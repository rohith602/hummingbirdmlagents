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38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jpe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media" Target="../media/media2.mp4"/><Relationship Id="rId7" Type="http://schemas.openxmlformats.org/officeDocument/2006/relationships/image" Target="../media/image2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25.png"/><Relationship Id="rId3" Type="http://schemas.microsoft.com/office/2007/relationships/media" Target="../media/media4.mp4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4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image" Target="../media/image20.png"/><Relationship Id="rId5" Type="http://schemas.microsoft.com/office/2007/relationships/media" Target="../media/media5.mp4"/><Relationship Id="rId10" Type="http://schemas.openxmlformats.org/officeDocument/2006/relationships/image" Target="../media/image23.svg"/><Relationship Id="rId4" Type="http://schemas.openxmlformats.org/officeDocument/2006/relationships/video" Target="../media/media4.mp4"/><Relationship Id="rId9" Type="http://schemas.openxmlformats.org/officeDocument/2006/relationships/image" Target="../media/image2.png"/><Relationship Id="rId1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97000" y="4953000"/>
            <a:ext cx="3619500" cy="3619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8428" y="2628900"/>
            <a:ext cx="16011144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4626"/>
              </a:lnSpc>
              <a:buNone/>
            </a:pPr>
            <a:r>
              <a:rPr lang="en-US" sz="9450" b="1" dirty="0">
                <a:solidFill>
                  <a:srgbClr val="4FD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Hummingbird ML-Agents Mini Project</a:t>
            </a:r>
            <a:endParaRPr lang="en-US" sz="9450" dirty="0"/>
          </a:p>
        </p:txBody>
      </p:sp>
      <p:sp>
        <p:nvSpPr>
          <p:cNvPr id="5" name="Text 2"/>
          <p:cNvSpPr/>
          <p:nvPr/>
        </p:nvSpPr>
        <p:spPr>
          <a:xfrm>
            <a:off x="5299516" y="5600700"/>
            <a:ext cx="7688869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9459"/>
              </a:lnSpc>
              <a:buNone/>
            </a:pPr>
            <a:r>
              <a:rPr lang="en-US" sz="31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reinforcement learning agent trained with PPO in Unity, learning to find flowers and feed on nectar on its own.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3476724" y="9107388"/>
            <a:ext cx="801092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Rohith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373067" y="9107388"/>
            <a:ext cx="127893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88369" y="9107388"/>
            <a:ext cx="7610703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MCA (Generative AI), Dept. of Computer Applications, SRM 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686481" y="9107388"/>
            <a:ext cx="127893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06457" y="9107388"/>
            <a:ext cx="3107888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Guide: Dr. R. Thilagavathy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What is this project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9928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90700" y="2819499"/>
            <a:ext cx="1492511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hummingbird that learns to find flowers and drink nectar through reinforcement learning, rather than being programmed with fixed rules for how to do it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45358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90700" y="4362549"/>
            <a:ext cx="6931601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Built in Unity using ML-Agents, trained with PPO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55645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5391249"/>
            <a:ext cx="10626269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Based on Unity's official Hummingbirds course, adapted to run on Unity 6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 rot="2700000">
            <a:off x="1390650" y="659328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4" name="Text 11"/>
          <p:cNvSpPr/>
          <p:nvPr/>
        </p:nvSpPr>
        <p:spPr>
          <a:xfrm>
            <a:off x="1790700" y="6419949"/>
            <a:ext cx="14604324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agent uses ray sensors and a small set of observations to sense flowers and boundaries, with no camera or pixel input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 rot="2700000">
            <a:off x="1390650" y="81363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6" name="Text 13"/>
          <p:cNvSpPr/>
          <p:nvPr/>
        </p:nvSpPr>
        <p:spPr>
          <a:xfrm>
            <a:off x="1790700" y="7962999"/>
            <a:ext cx="15504357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Trained first on a laptop CPU, then retrained on a rented NVIDIA L4 GPU instance to push the result further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Objectives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9551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90700" y="2768699"/>
            <a:ext cx="1511642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Build an agent that learns to fly and feed entirely on its own, without being given step-by-step rules to follow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44981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90700" y="4311749"/>
            <a:ext cx="140827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Cover the full pipeline, from training to TensorBoard to a working exported model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5526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5340450"/>
            <a:ext cx="154844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Trained once on-device on a laptop CPU, then again on a rented GPU to compare the two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 rot="2700000">
            <a:off x="1390650" y="65555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4" name="Text 11"/>
          <p:cNvSpPr/>
          <p:nvPr/>
        </p:nvSpPr>
        <p:spPr>
          <a:xfrm>
            <a:off x="1790700" y="6369150"/>
            <a:ext cx="143969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Understand how PPO actually works by building it, rather than just reading about it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 rot="2700000">
            <a:off x="1390650" y="75842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6" name="Text 13"/>
          <p:cNvSpPr/>
          <p:nvPr/>
        </p:nvSpPr>
        <p:spPr>
          <a:xfrm>
            <a:off x="1790700" y="7397850"/>
            <a:ext cx="1496180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27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Confirm the trained model runs standalone in Unity, with no Python trainer connected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Why reinforcement learning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50358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2343150"/>
            <a:ext cx="10127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Traditional game AI runs on fixed rules and doesn't improve on its own over time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35321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14500" y="3371751"/>
            <a:ext cx="1154163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Here, the agent tries different actions, gets rewarded or penalized, and gradually gets better through repetition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50751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14500" y="4914702"/>
            <a:ext cx="132907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bit of the hummingbird's flying and feeding behavior came from that process, not from rules written in advance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371600" y="6326287"/>
            <a:ext cx="7214096" cy="2932013"/>
          </a:xfrm>
          <a:prstGeom prst="roundRect">
            <a:avLst>
              <a:gd name="adj" fmla="val 9096"/>
            </a:avLst>
          </a:prstGeom>
          <a:solidFill>
            <a:srgbClr val="1A3D28"/>
          </a:solidFill>
          <a:ln w="19050">
            <a:solidFill>
              <a:srgbClr val="EEF2EA">
                <a:alpha val="14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85950" y="6846094"/>
            <a:ext cx="68039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Scripted AI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1885950" y="7798594"/>
            <a:ext cx="6370958" cy="977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Hardcoded rules, same every time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8966696" y="7592219"/>
            <a:ext cx="4308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vs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9702304" y="6326287"/>
            <a:ext cx="7214096" cy="2932013"/>
          </a:xfrm>
          <a:prstGeom prst="roundRect">
            <a:avLst>
              <a:gd name="adj" fmla="val 9096"/>
            </a:avLst>
          </a:prstGeom>
          <a:solidFill>
            <a:srgbClr val="8BC34F">
              <a:alpha val="14000"/>
            </a:srgbClr>
          </a:solidFill>
          <a:ln w="19050">
            <a:solidFill>
              <a:srgbClr val="8BC3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16654" y="7081044"/>
            <a:ext cx="68039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8BC34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Learned AI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10216654" y="8033544"/>
            <a:ext cx="680393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Learns by trial and reward</a:t>
            </a:r>
            <a:endParaRPr lang="en-US" sz="3150" dirty="0"/>
          </a:p>
        </p:txBody>
      </p:sp>
      <p:sp>
        <p:nvSpPr>
          <p:cNvPr id="20" name="Shape 17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How the agent perceives its world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1371600" y="3428008"/>
            <a:ext cx="8778180" cy="3907433"/>
          </a:xfrm>
          <a:prstGeom prst="roundRect">
            <a:avLst>
              <a:gd name="adj" fmla="val 6825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428008"/>
            <a:ext cx="8778180" cy="39074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2700000">
            <a:off x="11083231" y="30808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6"/>
          <p:cNvSpPr/>
          <p:nvPr/>
        </p:nvSpPr>
        <p:spPr>
          <a:xfrm>
            <a:off x="11483280" y="2920405"/>
            <a:ext cx="5200822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reads ten numbers every step, covering its rotation, the direction to the nearest flower, and how well aligned it is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 rot="2700000">
            <a:off x="11083231" y="51381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8"/>
          <p:cNvSpPr/>
          <p:nvPr/>
        </p:nvSpPr>
        <p:spPr>
          <a:xfrm>
            <a:off x="11483280" y="4977705"/>
            <a:ext cx="5224123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Three ray sensors, facing forward, up, and down, pick up nearby obstacles like the island's boundary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 rot="2700000">
            <a:off x="11083231" y="719544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4" name="Text 10"/>
          <p:cNvSpPr/>
          <p:nvPr/>
        </p:nvSpPr>
        <p:spPr>
          <a:xfrm>
            <a:off x="11483280" y="7035007"/>
            <a:ext cx="521441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That's the only information it has to work with, there's no camera or image involved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How the agent acts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50358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2343150"/>
            <a:ext cx="114993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controls five continuous values each step, three for movement and two for pitch and yaw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35321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14500" y="3371751"/>
            <a:ext cx="12701447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These are analog values rather than on-off switches, so the bird moves smoothly instead of snapping between positions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50751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14500" y="4914702"/>
            <a:ext cx="87171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loop is simple: observe, decide, act, and repeat, every single step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2649339" y="6260306"/>
            <a:ext cx="3740944" cy="1879600"/>
          </a:xfrm>
          <a:prstGeom prst="roundRect">
            <a:avLst>
              <a:gd name="adj" fmla="val 12162"/>
            </a:avLst>
          </a:prstGeom>
          <a:solidFill>
            <a:srgbClr val="339849"/>
          </a:solidFill>
          <a:ln/>
        </p:spPr>
      </p:sp>
      <p:sp>
        <p:nvSpPr>
          <p:cNvPr id="14" name="Text 11"/>
          <p:cNvSpPr/>
          <p:nvPr/>
        </p:nvSpPr>
        <p:spPr>
          <a:xfrm>
            <a:off x="3258939" y="6679406"/>
            <a:ext cx="2633972" cy="1079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EF2E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Observe</a:t>
            </a:r>
            <a:endParaRPr lang="en-US" sz="5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7483" y="7047706"/>
            <a:ext cx="857250" cy="304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61933" y="6260306"/>
            <a:ext cx="3389114" cy="1879600"/>
          </a:xfrm>
          <a:prstGeom prst="roundRect">
            <a:avLst>
              <a:gd name="adj" fmla="val 12162"/>
            </a:avLst>
          </a:prstGeom>
          <a:solidFill>
            <a:srgbClr val="22492F"/>
          </a:solidFill>
          <a:ln/>
        </p:spPr>
      </p:sp>
      <p:sp>
        <p:nvSpPr>
          <p:cNvPr id="17" name="Text 13"/>
          <p:cNvSpPr/>
          <p:nvPr/>
        </p:nvSpPr>
        <p:spPr>
          <a:xfrm>
            <a:off x="8771533" y="6679406"/>
            <a:ext cx="2271587" cy="1079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EF2EA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Decide</a:t>
            </a:r>
            <a:endParaRPr lang="en-US" sz="5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08247" y="7047706"/>
            <a:ext cx="857250" cy="304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3322697" y="6260306"/>
            <a:ext cx="2315865" cy="1879600"/>
          </a:xfrm>
          <a:prstGeom prst="roundRect">
            <a:avLst>
              <a:gd name="adj" fmla="val 12162"/>
            </a:avLst>
          </a:prstGeom>
          <a:solidFill>
            <a:srgbClr val="4FD868"/>
          </a:solidFill>
          <a:ln/>
        </p:spPr>
      </p:sp>
      <p:sp>
        <p:nvSpPr>
          <p:cNvPr id="20" name="Text 15"/>
          <p:cNvSpPr/>
          <p:nvPr/>
        </p:nvSpPr>
        <p:spPr>
          <a:xfrm>
            <a:off x="13932297" y="6679406"/>
            <a:ext cx="1172865" cy="1079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23322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Act</a:t>
            </a:r>
            <a:endParaRPr lang="en-US" sz="5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0" y="8369300"/>
            <a:ext cx="6096000" cy="552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50088" y="8921750"/>
            <a:ext cx="2846606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repeats every step</a:t>
            </a:r>
            <a:endParaRPr lang="en-US" sz="2250" dirty="0"/>
          </a:p>
        </p:txBody>
      </p:sp>
      <p:sp>
        <p:nvSpPr>
          <p:cNvPr id="23" name="Shape 17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The reward system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50358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2343150"/>
            <a:ext cx="1328201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earns a small reward for every tick it spends in contact with nectar, plus a bit more for approaching the flower head on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40465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14500" y="3886101"/>
            <a:ext cx="61663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Hitting the island boundary costs a larger penalty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50751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14500" y="4914702"/>
            <a:ext cx="65566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Those two signals were the only guidance it ever got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371600" y="5863332"/>
            <a:ext cx="7214096" cy="3394968"/>
          </a:xfrm>
          <a:prstGeom prst="roundRect">
            <a:avLst>
              <a:gd name="adj" fmla="val 7856"/>
            </a:avLst>
          </a:prstGeom>
          <a:solidFill>
            <a:srgbClr val="339849"/>
          </a:solidFill>
          <a:ln/>
        </p:spPr>
      </p:sp>
      <p:sp>
        <p:nvSpPr>
          <p:cNvPr id="14" name="Text 11"/>
          <p:cNvSpPr/>
          <p:nvPr/>
        </p:nvSpPr>
        <p:spPr>
          <a:xfrm>
            <a:off x="1866900" y="6849567"/>
            <a:ext cx="684584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Nectar contact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1866900" y="7802067"/>
            <a:ext cx="684584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EEF2EA">
                    <a:alpha val="8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+0.01 per tick reward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8966696" y="7360741"/>
            <a:ext cx="4308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vs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9702304" y="5863332"/>
            <a:ext cx="7214096" cy="3394968"/>
          </a:xfrm>
          <a:prstGeom prst="roundRect">
            <a:avLst>
              <a:gd name="adj" fmla="val 7856"/>
            </a:avLst>
          </a:prstGeom>
          <a:solidFill>
            <a:srgbClr val="7A2C2C"/>
          </a:solidFill>
          <a:ln/>
        </p:spPr>
      </p:sp>
      <p:sp>
        <p:nvSpPr>
          <p:cNvPr id="18" name="Text 15"/>
          <p:cNvSpPr/>
          <p:nvPr/>
        </p:nvSpPr>
        <p:spPr>
          <a:xfrm>
            <a:off x="10197604" y="6849567"/>
            <a:ext cx="684584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Boundary hit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10197604" y="7802067"/>
            <a:ext cx="6845846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EEF2EA">
                    <a:alpha val="85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-0.5 per hit penalty</a:t>
            </a:r>
            <a:endParaRPr lang="en-US" sz="3150" dirty="0"/>
          </a:p>
        </p:txBody>
      </p:sp>
      <p:sp>
        <p:nvSpPr>
          <p:cNvPr id="20" name="Shape 17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Training process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30808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90700" y="2920405"/>
            <a:ext cx="485110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Training ran through a separate Python process using the PPO algorithm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462379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90700" y="4463355"/>
            <a:ext cx="5571484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ran the full 50,000,000-step budget across two sessions, with 112 arenas training in parallel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668109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6520657"/>
            <a:ext cx="5368729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9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first run was CPU-only on the laptop; the final model was retrained from scratch on a rented NVIDIA L4 GPU instance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8138121" y="3493096"/>
            <a:ext cx="8778280" cy="3777357"/>
          </a:xfrm>
          <a:prstGeom prst="roundRect">
            <a:avLst>
              <a:gd name="adj" fmla="val 5043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21" y="3493096"/>
            <a:ext cx="8778280" cy="377735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Results</a:t>
            </a:r>
            <a:endParaRPr lang="en-US" sz="5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rcRect t="-5894" b="-5894"/>
          <a:stretch/>
        </p:blipFill>
        <p:spPr>
          <a:xfrm>
            <a:off x="1371600" y="2522637"/>
            <a:ext cx="9473605" cy="623659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371600" y="908496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E5498F"/>
          </a:solidFill>
          <a:ln/>
        </p:spPr>
      </p:sp>
      <p:sp>
        <p:nvSpPr>
          <p:cNvPr id="9" name="Text 5"/>
          <p:cNvSpPr/>
          <p:nvPr/>
        </p:nvSpPr>
        <p:spPr>
          <a:xfrm>
            <a:off x="1733550" y="8968780"/>
            <a:ext cx="49913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8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HB_16 · NVIDIA L4 GPU instance, 50M steps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922393" y="908496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E8B93A"/>
          </a:solidFill>
          <a:ln/>
        </p:spPr>
      </p:sp>
      <p:sp>
        <p:nvSpPr>
          <p:cNvPr id="11" name="Text 7"/>
          <p:cNvSpPr/>
          <p:nvPr/>
        </p:nvSpPr>
        <p:spPr>
          <a:xfrm>
            <a:off x="7284343" y="8968780"/>
            <a:ext cx="3237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HB_01 · on-device, 5M steps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302405" y="2359323"/>
            <a:ext cx="251983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5921"/>
              </a:lnSpc>
              <a:buNone/>
            </a:pPr>
            <a:r>
              <a:rPr lang="en-US" sz="75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96.58</a:t>
            </a:r>
            <a:endParaRPr lang="en-US" sz="7500" dirty="0"/>
          </a:p>
        </p:txBody>
      </p:sp>
      <p:sp>
        <p:nvSpPr>
          <p:cNvPr id="13" name="Text 9"/>
          <p:cNvSpPr/>
          <p:nvPr/>
        </p:nvSpPr>
        <p:spPr>
          <a:xfrm>
            <a:off x="13745568" y="2597448"/>
            <a:ext cx="175994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Mean Reward best-ever 97.728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 rot="2700000">
            <a:off x="11321455" y="372705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5" name="Text 11"/>
          <p:cNvSpPr/>
          <p:nvPr/>
        </p:nvSpPr>
        <p:spPr>
          <a:xfrm>
            <a:off x="11721505" y="3579713"/>
            <a:ext cx="48171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18919"/>
              </a:lnSpc>
              <a:buNone/>
            </a:pPr>
            <a:r>
              <a:rPr lang="en-US" sz="157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trained model works even with Python fully disconnected, running on its own inside Unity</a:t>
            </a:r>
            <a:endParaRPr lang="en-US" sz="1575" dirty="0"/>
          </a:p>
        </p:txBody>
      </p:sp>
      <p:sp>
        <p:nvSpPr>
          <p:cNvPr id="16" name="Shape 12"/>
          <p:cNvSpPr/>
          <p:nvPr/>
        </p:nvSpPr>
        <p:spPr>
          <a:xfrm rot="2700000">
            <a:off x="11321455" y="527010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7" name="Text 13"/>
          <p:cNvSpPr/>
          <p:nvPr/>
        </p:nvSpPr>
        <p:spPr>
          <a:xfrm>
            <a:off x="11721505" y="5122763"/>
            <a:ext cx="5141241" cy="130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18919"/>
              </a:lnSpc>
              <a:buNone/>
            </a:pPr>
            <a:r>
              <a:rPr lang="en-US" sz="157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That beats the first baseline run's 41.29 by 56.44, a 2.35x improvement, with the sharpest gains in the last 10M steps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 rot="2700000">
            <a:off x="11321455" y="732750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9" name="Text 15"/>
          <p:cNvSpPr/>
          <p:nvPr/>
        </p:nvSpPr>
        <p:spPr>
          <a:xfrm>
            <a:off x="11721505" y="7180163"/>
            <a:ext cx="516178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18919"/>
              </a:lnSpc>
              <a:buNone/>
            </a:pPr>
            <a:r>
              <a:rPr lang="en-US" sz="157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112 arenas gathering experience in parallel took the 50M step budget from 31 hours down to about 5</a:t>
            </a:r>
            <a:endParaRPr lang="en-US" sz="1575" dirty="0"/>
          </a:p>
        </p:txBody>
      </p:sp>
      <p:sp>
        <p:nvSpPr>
          <p:cNvPr id="20" name="Shape 16"/>
          <p:cNvSpPr/>
          <p:nvPr/>
        </p:nvSpPr>
        <p:spPr>
          <a:xfrm rot="2700000">
            <a:off x="11321455" y="887055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21" name="Text 17"/>
          <p:cNvSpPr/>
          <p:nvPr/>
        </p:nvSpPr>
        <p:spPr>
          <a:xfrm>
            <a:off x="11721505" y="8723213"/>
            <a:ext cx="51272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218919"/>
              </a:lnSpc>
              <a:buNone/>
            </a:pPr>
            <a:r>
              <a:rPr lang="en-US" sz="157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curve is still rising at 50M steps, so the ceiling is a budget limit rather than a limit of the policy</a:t>
            </a:r>
            <a:endParaRPr lang="en-US" sz="1575" dirty="0"/>
          </a:p>
        </p:txBody>
      </p:sp>
      <p:sp>
        <p:nvSpPr>
          <p:cNvPr id="22" name="Shape 18"/>
          <p:cNvSpPr/>
          <p:nvPr/>
        </p:nvSpPr>
        <p:spPr>
          <a:xfrm>
            <a:off x="16300947" y="9544050"/>
            <a:ext cx="615454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0947" y="9544050"/>
            <a:ext cx="615454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On-device vs rented GPU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371600" y="2676922"/>
            <a:ext cx="7543800" cy="1892697"/>
          </a:xfrm>
          <a:prstGeom prst="roundRect">
            <a:avLst>
              <a:gd name="adj" fmla="val 10065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4741069"/>
            <a:ext cx="829818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On-device, laptop CPU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5223669"/>
            <a:ext cx="1915091" cy="6533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55690"/>
              </a:lnSpc>
              <a:buNone/>
            </a:pPr>
            <a:r>
              <a:rPr lang="en-US" sz="5700" b="1" dirty="0">
                <a:solidFill>
                  <a:srgbClr val="8BC34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41.29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3245941" y="5534124"/>
            <a:ext cx="1514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Mean Reward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71600" y="6010374"/>
            <a:ext cx="7770114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5,000,024 steps · 1 arena · stacked vectors 1 · integrated graphics only, GPU disabled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6798965"/>
            <a:ext cx="8298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C34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~31 hours training time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372600" y="2676922"/>
            <a:ext cx="7543800" cy="1892697"/>
          </a:xfrm>
          <a:prstGeom prst="roundRect">
            <a:avLst>
              <a:gd name="adj" fmla="val 10065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72600" y="4741069"/>
            <a:ext cx="829818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Rented NVIDIA L4 GPU instance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72600" y="5223669"/>
            <a:ext cx="1915091" cy="6533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55690"/>
              </a:lnSpc>
              <a:buNone/>
            </a:pPr>
            <a:r>
              <a:rPr lang="en-US" sz="57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96.58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11246941" y="5534124"/>
            <a:ext cx="15149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Mean Reward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372600" y="6010374"/>
            <a:ext cx="7770114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50,000,000 steps · 112 arenas · stacked vectors 3 · final 24.6M steps in about 2h38m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6798965"/>
            <a:ext cx="82981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FD8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~5 hours training time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71600" y="7545487"/>
            <a:ext cx="16011144" cy="175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8750"/>
              </a:lnSpc>
              <a:buNone/>
            </a:pPr>
            <a:r>
              <a:rPr lang="en-US" sz="2025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on-device run proved the pipeline worked, but 8GB of RAM capped it at a single arena, and one unstacked observation frame left the agent with no way to sense its own velocity. Renting an NVIDIA L4 GPU instance lifted both limits at once: 112 arenas gathering experience in parallel, three stacked frames to difference into velocity, and a ten times larger step budget. The result is a 2.35x higher mean reward.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6158270" y="9544050"/>
            <a:ext cx="758130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8270" y="9544050"/>
            <a:ext cx="758130" cy="419100"/>
          </a:xfrm>
          <a:prstGeom prst="ellipse">
            <a:avLst/>
          </a:prstGeom>
        </p:spPr>
      </p:pic>
      <p:pic>
        <p:nvPicPr>
          <p:cNvPr id="21" name="Video slide10_on_device">
            <a:hlinkClick r:id="" action="ppaction://media"/>
            <a:extLst>
              <a:ext uri="{FF2B5EF4-FFF2-40B4-BE49-F238E27FC236}">
                <a16:creationId xmlns:a16="http://schemas.microsoft.com/office/drawing/2014/main" id="{1397CF97-6171-6E52-17AF-0E66FCC440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71600" y="2676923"/>
            <a:ext cx="7543358" cy="1892697"/>
          </a:xfrm>
          <a:prstGeom prst="rect">
            <a:avLst/>
          </a:prstGeom>
        </p:spPr>
      </p:pic>
      <p:pic>
        <p:nvPicPr>
          <p:cNvPr id="22" name="Video slide10_rented_gpu">
            <a:hlinkClick r:id="" action="ppaction://media"/>
            <a:extLst>
              <a:ext uri="{FF2B5EF4-FFF2-40B4-BE49-F238E27FC236}">
                <a16:creationId xmlns:a16="http://schemas.microsoft.com/office/drawing/2014/main" id="{963B8981-E04F-C6A0-A348-A358BEF8875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372600" y="2676923"/>
            <a:ext cx="7543358" cy="1892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9">
            <a:alphaModFix amt="8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Progress across training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1371600" y="2779812"/>
            <a:ext cx="4927600" cy="5995889"/>
          </a:xfrm>
          <a:prstGeom prst="roundRect">
            <a:avLst>
              <a:gd name="adj" fmla="val 3866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25220" y="8947150"/>
            <a:ext cx="54203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Early · 0.5M steps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680200" y="2779812"/>
            <a:ext cx="4927600" cy="5995889"/>
          </a:xfrm>
          <a:prstGeom prst="roundRect">
            <a:avLst>
              <a:gd name="adj" fmla="val 3866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33820" y="8947150"/>
            <a:ext cx="54203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Mid · 2.5M steps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1988801" y="2779812"/>
            <a:ext cx="4927600" cy="5995889"/>
          </a:xfrm>
          <a:prstGeom prst="roundRect">
            <a:avLst>
              <a:gd name="adj" fmla="val 3866"/>
            </a:avLst>
          </a:prstGeom>
          <a:ln/>
          <a:effectLst>
            <a:outerShdw blurRad="571500" dist="1905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742421" y="8947150"/>
            <a:ext cx="542036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GB" sz="210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Final · HB_16, 50M steps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6158270" y="9544050"/>
            <a:ext cx="758130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58270" y="9544050"/>
            <a:ext cx="758130" cy="419100"/>
          </a:xfrm>
          <a:prstGeom prst="ellipse">
            <a:avLst/>
          </a:prstGeom>
        </p:spPr>
      </p:pic>
      <p:pic>
        <p:nvPicPr>
          <p:cNvPr id="15" name="Video slide11_early_0.5M">
            <a:hlinkClick r:id="" action="ppaction://media"/>
            <a:extLst>
              <a:ext uri="{FF2B5EF4-FFF2-40B4-BE49-F238E27FC236}">
                <a16:creationId xmlns:a16="http://schemas.microsoft.com/office/drawing/2014/main" id="{5E8754A9-E83F-D462-E903-2A9399514B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71601" y="2779813"/>
            <a:ext cx="4926501" cy="5995889"/>
          </a:xfrm>
          <a:prstGeom prst="rect">
            <a:avLst/>
          </a:prstGeom>
        </p:spPr>
      </p:pic>
      <p:pic>
        <p:nvPicPr>
          <p:cNvPr id="16" name="Video slide11_mid_2.5M">
            <a:hlinkClick r:id="" action="ppaction://media"/>
            <a:extLst>
              <a:ext uri="{FF2B5EF4-FFF2-40B4-BE49-F238E27FC236}">
                <a16:creationId xmlns:a16="http://schemas.microsoft.com/office/drawing/2014/main" id="{1E3527B8-75A7-75AA-0A36-E70B9F79DCB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680201" y="2779813"/>
            <a:ext cx="4926501" cy="5995889"/>
          </a:xfrm>
          <a:prstGeom prst="rect">
            <a:avLst/>
          </a:prstGeom>
        </p:spPr>
      </p:pic>
      <p:pic>
        <p:nvPicPr>
          <p:cNvPr id="17" name="Video slide11_final_HB16_50M">
            <a:hlinkClick r:id="" action="ppaction://media"/>
            <a:extLst>
              <a:ext uri="{FF2B5EF4-FFF2-40B4-BE49-F238E27FC236}">
                <a16:creationId xmlns:a16="http://schemas.microsoft.com/office/drawing/2014/main" id="{7A4113B7-FAA3-72E0-4948-3CC21EC5CC5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988802" y="2779813"/>
            <a:ext cx="4926501" cy="5995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 mute="1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Challenges along the way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1371600" y="2676922"/>
            <a:ext cx="7620000" cy="3138289"/>
          </a:xfrm>
          <a:prstGeom prst="roundRect">
            <a:avLst>
              <a:gd name="adj" fmla="val 7284"/>
            </a:avLst>
          </a:prstGeom>
          <a:solidFill>
            <a:srgbClr val="4FD868">
              <a:alpha val="1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752600" y="3019822"/>
            <a:ext cx="706374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202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tutorial was written for an older Unity version, and much of the original code no longer matched the current engine or ML-Agents API</a:t>
            </a:r>
            <a:endParaRPr lang="en-US" sz="2025" dirty="0"/>
          </a:p>
        </p:txBody>
      </p:sp>
      <p:sp>
        <p:nvSpPr>
          <p:cNvPr id="9" name="Shape 6"/>
          <p:cNvSpPr/>
          <p:nvPr/>
        </p:nvSpPr>
        <p:spPr>
          <a:xfrm>
            <a:off x="9296400" y="2676922"/>
            <a:ext cx="7620000" cy="3138289"/>
          </a:xfrm>
          <a:prstGeom prst="roundRect">
            <a:avLst>
              <a:gd name="adj" fmla="val 7284"/>
            </a:avLst>
          </a:prstGeom>
          <a:solidFill>
            <a:srgbClr val="8BC34F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677400" y="3019822"/>
            <a:ext cx="706374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202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laptop's 8GB of RAM couldn't handle multi-island training, and the environment was scaled down to a single island instead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1371600" y="6120011"/>
            <a:ext cx="7620000" cy="3138289"/>
          </a:xfrm>
          <a:prstGeom prst="roundRect">
            <a:avLst>
              <a:gd name="adj" fmla="val 7284"/>
            </a:avLst>
          </a:prstGeom>
          <a:solidFill>
            <a:srgbClr val="8BC34F">
              <a:alpha val="1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752600" y="6462911"/>
            <a:ext cx="706374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202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bug kept resurfacing after each attempted fix, and tracing it back eventually meant going into the training library's own source code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9296400" y="6120011"/>
            <a:ext cx="7620000" cy="3138289"/>
          </a:xfrm>
          <a:prstGeom prst="roundRect">
            <a:avLst>
              <a:gd name="adj" fmla="val 7284"/>
            </a:avLst>
          </a:prstGeom>
          <a:solidFill>
            <a:srgbClr val="4FD868">
              <a:alpha val="16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677400" y="6462911"/>
            <a:ext cx="706374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2025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 unresponsive UI button turned out to be caused by two event systems quietly competing for the same click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16158270" y="9544050"/>
            <a:ext cx="758130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8270" y="9544050"/>
            <a:ext cx="758130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400002">
            <a:off x="17716500" y="952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333375" y="0"/>
                </a:lnTo>
                <a:arcTo wR="333375" hR="333375" stAng="16200000" swAng="5400000"/>
                <a:lnTo>
                  <a:pt x="666750" y="666750"/>
                </a:lnTo>
                <a:lnTo>
                  <a:pt x="333375" y="666750"/>
                </a:lnTo>
                <a:arcTo wR="333375" hR="333375" stAng="5400000" swAng="5400000"/>
                <a:lnTo>
                  <a:pt x="0" y="0"/>
                </a:lnTo>
                <a:close/>
              </a:path>
            </a:pathLst>
          </a:custGeom>
          <a:solidFill>
            <a:srgbClr val="22492F">
              <a:alpha val="4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599999">
            <a:off x="17487900" y="-1905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0" y="0"/>
                </a:moveTo>
                <a:lnTo>
                  <a:pt x="209550" y="0"/>
                </a:lnTo>
                <a:arcTo wR="209550" hR="209550" stAng="16200000" swAng="5400000"/>
                <a:lnTo>
                  <a:pt x="419100" y="419100"/>
                </a:lnTo>
                <a:lnTo>
                  <a:pt x="209550" y="419100"/>
                </a:lnTo>
                <a:arcTo wR="209550" hR="209550" stAng="5400000" swAng="5400000"/>
                <a:lnTo>
                  <a:pt x="0" y="0"/>
                </a:lnTo>
                <a:close/>
              </a:path>
            </a:pathLst>
          </a:custGeom>
          <a:solidFill>
            <a:srgbClr val="339849">
              <a:alpha val="2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604863"/>
            <a:ext cx="17099280" cy="490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085"/>
              </a:lnSpc>
              <a:buNone/>
            </a:pPr>
            <a:r>
              <a:rPr lang="en-US" sz="540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Conclusion and what's next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 rot="2700000">
            <a:off x="1390650" y="26841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8" name="Text 5"/>
          <p:cNvSpPr/>
          <p:nvPr/>
        </p:nvSpPr>
        <p:spPr>
          <a:xfrm>
            <a:off x="1790700" y="2510830"/>
            <a:ext cx="1489537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agent trained successfully and runs entirely on its own, with no live connection to Python required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 rot="2700000">
            <a:off x="1390650" y="37128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0" name="Text 7"/>
          <p:cNvSpPr/>
          <p:nvPr/>
        </p:nvSpPr>
        <p:spPr>
          <a:xfrm>
            <a:off x="1790700" y="3539530"/>
            <a:ext cx="12737726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Testing how the agent handles AI-generated flower layouts instead of hand-placed ones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 rot="2700000">
            <a:off x="1390650" y="47415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2" name="Text 9"/>
          <p:cNvSpPr/>
          <p:nvPr/>
        </p:nvSpPr>
        <p:spPr>
          <a:xfrm>
            <a:off x="1790700" y="4568230"/>
            <a:ext cx="1232894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Training on easier setups before harder ones, to see whether it learns faster that way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 rot="2700000">
            <a:off x="1390650" y="57702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4" name="Text 11"/>
          <p:cNvSpPr/>
          <p:nvPr/>
        </p:nvSpPr>
        <p:spPr>
          <a:xfrm>
            <a:off x="1790700" y="5596930"/>
            <a:ext cx="1407546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Having multiple birds compete for the same flowers during training itself, not just at deployment.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 rot="2700000">
            <a:off x="1390650" y="67989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0"/>
                </a:moveTo>
                <a:lnTo>
                  <a:pt x="85725" y="0"/>
                </a:lnTo>
                <a:arcTo wR="85725" hR="85725" stAng="16200000" swAng="5400000"/>
                <a:lnTo>
                  <a:pt x="171450" y="171450"/>
                </a:lnTo>
                <a:lnTo>
                  <a:pt x="85725" y="171450"/>
                </a:lnTo>
                <a:arcTo wR="85725" hR="85725" stAng="5400000" swAng="5400000"/>
                <a:lnTo>
                  <a:pt x="0" y="0"/>
                </a:lnTo>
                <a:close/>
              </a:path>
            </a:pathLst>
          </a:custGeom>
          <a:solidFill>
            <a:srgbClr val="4FD868"/>
          </a:solidFill>
          <a:ln/>
        </p:spPr>
      </p:sp>
      <p:sp>
        <p:nvSpPr>
          <p:cNvPr id="16" name="Text 13"/>
          <p:cNvSpPr/>
          <p:nvPr/>
        </p:nvSpPr>
        <p:spPr>
          <a:xfrm>
            <a:off x="1790700" y="6625630"/>
            <a:ext cx="1466441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2830"/>
              </a:lnSpc>
              <a:buNone/>
            </a:pPr>
            <a:r>
              <a:rPr lang="en-US" sz="2250" dirty="0">
                <a:solidFill>
                  <a:srgbClr val="EEF2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 proper counter for the exact number of flowers fed on per episode, instead of relying on the current reward-based estimate.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6158270" y="9544050"/>
            <a:ext cx="758130" cy="419100"/>
          </a:xfrm>
          <a:prstGeom prst="roundRect">
            <a:avLst>
              <a:gd name="adj" fmla="val 50000"/>
            </a:avLst>
          </a:prstGeom>
          <a:solidFill>
            <a:srgbClr val="1A3D2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8270" y="9544050"/>
            <a:ext cx="758130" cy="41910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5000">
                <a:srgbClr val="040A07">
                  <a:alpha val="0"/>
                </a:srgbClr>
              </a:gs>
              <a:gs pos="100000">
                <a:srgbClr val="040A07">
                  <a:alpha val="40000"/>
                </a:srgbClr>
              </a:gs>
            </a:gsLst>
            <a:path path="circle">
              <a:fillToRect l="50000" t="15000" r="50000" b="85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78225" y="190500"/>
            <a:ext cx="1781175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2406" y="3529013"/>
            <a:ext cx="638308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0313"/>
              </a:lnSpc>
              <a:buNone/>
            </a:pPr>
            <a:r>
              <a:rPr lang="en-US" sz="9450" b="1" dirty="0">
                <a:solidFill>
                  <a:srgbClr val="4FD868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Thank you</a:t>
            </a:r>
            <a:endParaRPr lang="en-US" sz="9450" dirty="0"/>
          </a:p>
        </p:txBody>
      </p:sp>
      <p:sp>
        <p:nvSpPr>
          <p:cNvPr id="5" name="Text 2"/>
          <p:cNvSpPr/>
          <p:nvPr/>
        </p:nvSpPr>
        <p:spPr>
          <a:xfrm>
            <a:off x="5299516" y="5214938"/>
            <a:ext cx="7688869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9459"/>
              </a:lnSpc>
              <a:buNone/>
            </a:pPr>
            <a:r>
              <a:rPr lang="en-US" sz="315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Hummingbird ML-Agents Mini Project, built with PPO in Unity ML-Agents 4.1.0.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8275568" y="9107388"/>
            <a:ext cx="1736864" cy="18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EEF2EA">
                    <a:alpha val="62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Project review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Microsoft Office PowerPoint</Application>
  <PresentationFormat>Custom</PresentationFormat>
  <Paragraphs>106</Paragraphs>
  <Slides>14</Slides>
  <Notes>14</Notes>
  <HiddenSlides>0</HiddenSlides>
  <MMClips>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Georgia</vt:lpstr>
      <vt:lpstr>Spectral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Rohith Menon</cp:lastModifiedBy>
  <cp:revision>2</cp:revision>
  <dcterms:created xsi:type="dcterms:W3CDTF">2026-09-25T08:28:39Z</dcterms:created>
  <dcterms:modified xsi:type="dcterms:W3CDTF">2026-09-25T09:45:04Z</dcterms:modified>
</cp:coreProperties>
</file>